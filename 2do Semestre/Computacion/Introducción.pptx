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2" r:id="rId17"/>
    <p:sldId id="271" r:id="rId18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BA102-DDC3-4760-87BE-9D42EFE8BE77}" type="datetimeFigureOut">
              <a:rPr lang="es-ES" smtClean="0"/>
              <a:t>18/02/2015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2EFCE8-CB56-473E-9C32-9CA1A0B65C28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2EFCE8-CB56-473E-9C32-9CA1A0B65C28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81B2-844B-4AF4-9BE3-5EDAF6757854}" type="datetime1">
              <a:rPr lang="es-ES" smtClean="0"/>
              <a:t>18/02/2015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4567-1F60-4117-A586-DA4F28274B0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3E8DF-7B5C-4DAE-B872-9CDE4A220F0B}" type="datetime1">
              <a:rPr lang="es-ES" smtClean="0"/>
              <a:t>18/02/2015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4567-1F60-4117-A586-DA4F28274B0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97571-3853-491E-B889-97A4DE11E953}" type="datetime1">
              <a:rPr lang="es-ES" smtClean="0"/>
              <a:t>18/02/2015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4567-1F60-4117-A586-DA4F28274B0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1F15B-000D-4799-8FBE-4F8BC51D90D2}" type="datetime1">
              <a:rPr lang="es-ES" smtClean="0"/>
              <a:t>18/02/2015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4567-1F60-4117-A586-DA4F28274B0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7833C-B2DF-43B4-9FAF-50DFCDF21F8E}" type="datetime1">
              <a:rPr lang="es-ES" smtClean="0"/>
              <a:t>18/02/2015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4567-1F60-4117-A586-DA4F28274B0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B8CB-CD7A-4786-BD59-8EA6BC1444E9}" type="datetime1">
              <a:rPr lang="es-ES" smtClean="0"/>
              <a:t>18/02/2015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4567-1F60-4117-A586-DA4F28274B0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0101B-F688-4291-B3EA-75ACE505F6BA}" type="datetime1">
              <a:rPr lang="es-ES" smtClean="0"/>
              <a:t>18/02/2015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4567-1F60-4117-A586-DA4F28274B0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9C839-02F6-4EE1-A3F7-B914B9C5611F}" type="datetime1">
              <a:rPr lang="es-ES" smtClean="0"/>
              <a:t>18/02/2015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4567-1F60-4117-A586-DA4F28274B0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F6DDC-2F83-44D3-B215-C525102EBDBE}" type="datetime1">
              <a:rPr lang="es-ES" smtClean="0"/>
              <a:t>18/02/2015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4567-1F60-4117-A586-DA4F28274B0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473C8-31C0-49D2-8EF0-DB0D1D750E56}" type="datetime1">
              <a:rPr lang="es-ES" smtClean="0"/>
              <a:t>18/02/2015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4567-1F60-4117-A586-DA4F28274B0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29CA-F8B1-47CD-ADF7-B4985319BCE8}" type="datetime1">
              <a:rPr lang="es-ES" smtClean="0"/>
              <a:t>18/02/2015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4567-1F60-4117-A586-DA4F28274B0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8BCCAF-D174-422C-82EB-CBDFF5A37D29}" type="datetime1">
              <a:rPr lang="es-ES" smtClean="0"/>
              <a:t>18/02/2015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14567-1F60-4117-A586-DA4F28274B05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/>
              <a:t>Introducción</a:t>
            </a:r>
            <a:br>
              <a:rPr lang="es-ES" b="1" dirty="0"/>
            </a:br>
            <a:r>
              <a:rPr lang="es-ES" b="1" dirty="0"/>
              <a:t>a la programación en </a:t>
            </a:r>
            <a:r>
              <a:rPr lang="es-ES" b="1" dirty="0" smtClean="0"/>
              <a:t>C++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b="1" dirty="0"/>
              <a:t>Introducción</a:t>
            </a:r>
          </a:p>
          <a:p>
            <a:r>
              <a:rPr lang="es-ES" dirty="0"/>
              <a:t>En estos capítulos vamos a estudiar los </a:t>
            </a:r>
            <a:r>
              <a:rPr lang="es-ES" dirty="0" smtClean="0"/>
              <a:t>fundamentos </a:t>
            </a:r>
            <a:r>
              <a:rPr lang="es-ES" dirty="0"/>
              <a:t>de un </a:t>
            </a:r>
            <a:r>
              <a:rPr lang="es-ES" dirty="0" smtClean="0"/>
              <a:t>lenguaje de </a:t>
            </a:r>
            <a:r>
              <a:rPr lang="es-ES" dirty="0"/>
              <a:t>programación. U</a:t>
            </a:r>
            <a:r>
              <a:rPr lang="es-ES" dirty="0" smtClean="0"/>
              <a:t>n </a:t>
            </a:r>
            <a:r>
              <a:rPr lang="es-ES" dirty="0"/>
              <a:t>lenguaje de </a:t>
            </a:r>
            <a:r>
              <a:rPr lang="es-ES" dirty="0" smtClean="0"/>
              <a:t>programación es </a:t>
            </a:r>
            <a:r>
              <a:rPr lang="es-ES" dirty="0"/>
              <a:t>una herramienta que nos permite elaborar programas (</a:t>
            </a:r>
            <a:r>
              <a:rPr lang="es-ES" dirty="0" smtClean="0"/>
              <a:t>ficheros ejecutables</a:t>
            </a:r>
            <a:r>
              <a:rPr lang="es-ES" dirty="0"/>
              <a:t>) de forma más o menos fácil. Los procesadores </a:t>
            </a:r>
            <a:r>
              <a:rPr lang="es-ES" dirty="0" smtClean="0"/>
              <a:t>tan solo </a:t>
            </a:r>
            <a:r>
              <a:rPr lang="es-ES" dirty="0"/>
              <a:t>son capaces de ejecutar instrucciones muy sencillas, </a:t>
            </a:r>
            <a:r>
              <a:rPr lang="es-ES" dirty="0" smtClean="0"/>
              <a:t>tales como </a:t>
            </a:r>
            <a:r>
              <a:rPr lang="es-ES" dirty="0"/>
              <a:t>la suma de dos números, mover un valor del procesador a </a:t>
            </a:r>
            <a:r>
              <a:rPr lang="es-ES" dirty="0" smtClean="0"/>
              <a:t>la memoria</a:t>
            </a:r>
            <a:r>
              <a:rPr lang="es-ES" dirty="0"/>
              <a:t>, etc. Además, para entender este tipo de </a:t>
            </a:r>
            <a:r>
              <a:rPr lang="es-ES" dirty="0" smtClean="0"/>
              <a:t>instrucciones, el </a:t>
            </a:r>
            <a:r>
              <a:rPr lang="es-ES" dirty="0"/>
              <a:t>procesador debe recibirlas codificadas en sistema binario, </a:t>
            </a:r>
            <a:r>
              <a:rPr lang="es-ES" dirty="0" smtClean="0"/>
              <a:t>es decir</a:t>
            </a:r>
            <a:r>
              <a:rPr lang="es-ES" dirty="0"/>
              <a:t>, como secuencia de unos y ceros. Para entendernos, si el </a:t>
            </a:r>
            <a:r>
              <a:rPr lang="es-ES" dirty="0" smtClean="0"/>
              <a:t>procesador recibe </a:t>
            </a:r>
            <a:r>
              <a:rPr lang="es-ES" dirty="0"/>
              <a:t>un 1000 0111, por ejemplo, entenderá que </a:t>
            </a:r>
            <a:r>
              <a:rPr lang="es-ES" dirty="0" smtClean="0"/>
              <a:t>debe sumar </a:t>
            </a:r>
            <a:r>
              <a:rPr lang="es-ES" dirty="0"/>
              <a:t>dos cifras (y otra secuencia de unos y ceros le dirá cuáles</a:t>
            </a:r>
            <a:r>
              <a:rPr lang="es-ES" dirty="0" smtClean="0"/>
              <a:t>), y </a:t>
            </a:r>
            <a:r>
              <a:rPr lang="es-ES" dirty="0"/>
              <a:t>si recibe un 1000 0100, en cambio, lo que hará es restarlas. </a:t>
            </a:r>
            <a:r>
              <a:rPr lang="es-ES" dirty="0" smtClean="0"/>
              <a:t>Es a </a:t>
            </a:r>
            <a:r>
              <a:rPr lang="es-ES" dirty="0"/>
              <a:t>base de dichas secuencias binarias y de muchas </a:t>
            </a:r>
            <a:r>
              <a:rPr lang="es-ES" dirty="0" smtClean="0"/>
              <a:t>instrucciones que </a:t>
            </a:r>
            <a:r>
              <a:rPr lang="es-ES" dirty="0"/>
              <a:t>TODOS los procesadores consiguen ejecutar cualquier </a:t>
            </a:r>
            <a:r>
              <a:rPr lang="es-ES" dirty="0" smtClean="0"/>
              <a:t>programa (incluidos</a:t>
            </a:r>
            <a:r>
              <a:rPr lang="es-ES" dirty="0"/>
              <a:t>, por ejemplo, los juegos más complejos y </a:t>
            </a:r>
            <a:r>
              <a:rPr lang="es-ES" dirty="0" smtClean="0"/>
              <a:t>con mejores </a:t>
            </a:r>
            <a:r>
              <a:rPr lang="es-ES" dirty="0"/>
              <a:t>gráficos). Este idioma binario es lo que se conoce </a:t>
            </a:r>
            <a:r>
              <a:rPr lang="es-ES" dirty="0" smtClean="0"/>
              <a:t>como lenguaje </a:t>
            </a:r>
            <a:r>
              <a:rPr lang="es-ES" dirty="0"/>
              <a:t>máquina</a:t>
            </a:r>
            <a:r>
              <a:rPr lang="es-ES" dirty="0" smtClean="0"/>
              <a:t>.</a:t>
            </a:r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Aunque se podría crear un programa simplemente escribiendo </a:t>
            </a:r>
            <a:r>
              <a:rPr lang="es-ES" dirty="0" smtClean="0"/>
              <a:t>los cientos </a:t>
            </a:r>
            <a:r>
              <a:rPr lang="es-ES" dirty="0"/>
              <a:t>de millones de unos y ceros que representan las </a:t>
            </a:r>
            <a:r>
              <a:rPr lang="es-ES" dirty="0" smtClean="0"/>
              <a:t>órdenes del </a:t>
            </a:r>
            <a:r>
              <a:rPr lang="es-ES" dirty="0"/>
              <a:t>procesador (y en los años sesenta, con los primeros </a:t>
            </a:r>
            <a:r>
              <a:rPr lang="es-ES" dirty="0" smtClean="0"/>
              <a:t>ordenadores, así </a:t>
            </a:r>
            <a:r>
              <a:rPr lang="es-ES" dirty="0"/>
              <a:t>se hacía), este sistema resulta muy complicado. Por </a:t>
            </a:r>
            <a:r>
              <a:rPr lang="es-ES" dirty="0" smtClean="0"/>
              <a:t>ese motivo</a:t>
            </a:r>
            <a:r>
              <a:rPr lang="es-ES" dirty="0"/>
              <a:t>, se decidió simplificar un poco la tarea y se crearon </a:t>
            </a:r>
            <a:r>
              <a:rPr lang="es-ES" dirty="0" smtClean="0"/>
              <a:t>los lenguajes </a:t>
            </a:r>
            <a:r>
              <a:rPr lang="es-ES" dirty="0"/>
              <a:t>de programación. Estos lenguajes son simplemente </a:t>
            </a:r>
            <a:r>
              <a:rPr lang="es-ES" dirty="0" smtClean="0"/>
              <a:t>programas que </a:t>
            </a:r>
            <a:r>
              <a:rPr lang="es-ES" dirty="0"/>
              <a:t>traducen las órdenes que nosotros les </a:t>
            </a:r>
            <a:r>
              <a:rPr lang="es-ES" dirty="0" smtClean="0"/>
              <a:t>escribimos siguiendo </a:t>
            </a:r>
            <a:r>
              <a:rPr lang="es-ES" dirty="0"/>
              <a:t>unas reglas sintácticas (por eso se llaman lenguajes) </a:t>
            </a:r>
            <a:r>
              <a:rPr lang="es-ES" dirty="0" smtClean="0"/>
              <a:t>al idioma </a:t>
            </a:r>
            <a:r>
              <a:rPr lang="es-ES" dirty="0"/>
              <a:t>de unos y ceros, el único que el procesador es capaz </a:t>
            </a:r>
            <a:r>
              <a:rPr lang="es-ES" dirty="0" smtClean="0"/>
              <a:t>de entender</a:t>
            </a:r>
            <a:r>
              <a:rPr lang="es-ES" dirty="0"/>
              <a:t>. Según lo cerca o lo lejos que esté el lenguaje de </a:t>
            </a:r>
            <a:r>
              <a:rPr lang="es-ES" dirty="0" smtClean="0"/>
              <a:t>programación del </a:t>
            </a:r>
            <a:r>
              <a:rPr lang="es-ES" dirty="0"/>
              <a:t>idioma binario del ordenador, se clasifica en </a:t>
            </a:r>
            <a:r>
              <a:rPr lang="es-ES" dirty="0" smtClean="0"/>
              <a:t>tres grupos</a:t>
            </a:r>
            <a:r>
              <a:rPr lang="es-ES" dirty="0"/>
              <a:t>: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43240" y="6350023"/>
            <a:ext cx="2895600" cy="365125"/>
          </a:xfrm>
        </p:spPr>
        <p:txBody>
          <a:bodyPr/>
          <a:lstStyle/>
          <a:p>
            <a:r>
              <a:rPr lang="es-ES" dirty="0" smtClean="0"/>
              <a:t>Computación Sección G Auxiliar David Fretes Esquivel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b="1" dirty="0"/>
              <a:t>Lenguajes de bajo nivel. El lenguaje de bajo nivel por </a:t>
            </a:r>
            <a:r>
              <a:rPr lang="es-ES" b="1" dirty="0" smtClean="0"/>
              <a:t>excelencia </a:t>
            </a:r>
            <a:r>
              <a:rPr lang="es-ES" dirty="0" smtClean="0"/>
              <a:t>es </a:t>
            </a:r>
            <a:r>
              <a:rPr lang="es-ES" dirty="0"/>
              <a:t>el ensamblador. Este lenguaje es simplemente una </a:t>
            </a:r>
            <a:r>
              <a:rPr lang="es-ES" dirty="0" smtClean="0"/>
              <a:t>traducción directa </a:t>
            </a:r>
            <a:r>
              <a:rPr lang="es-ES" dirty="0"/>
              <a:t>de cada orden del procesador a una palabra </a:t>
            </a:r>
            <a:r>
              <a:rPr lang="es-ES" dirty="0" smtClean="0"/>
              <a:t>que explique </a:t>
            </a:r>
            <a:r>
              <a:rPr lang="es-ES" dirty="0"/>
              <a:t>qué hace esa orden (la palabra, evidentemente, </a:t>
            </a:r>
            <a:r>
              <a:rPr lang="es-ES" dirty="0" smtClean="0"/>
              <a:t>está en </a:t>
            </a:r>
            <a:r>
              <a:rPr lang="es-ES" dirty="0"/>
              <a:t>inglés). En el ejemplo anterior, en vez de escribir </a:t>
            </a:r>
            <a:r>
              <a:rPr lang="es-ES" dirty="0" smtClean="0"/>
              <a:t>1000 0111</a:t>
            </a:r>
            <a:r>
              <a:rPr lang="es-ES" dirty="0"/>
              <a:t>, escribiríamos ADD (</a:t>
            </a:r>
            <a:r>
              <a:rPr lang="es-ES" i="1" dirty="0"/>
              <a:t>suma en inglés). No facilita </a:t>
            </a:r>
            <a:r>
              <a:rPr lang="es-ES" i="1" dirty="0" smtClean="0"/>
              <a:t>mucho </a:t>
            </a:r>
            <a:r>
              <a:rPr lang="es-ES" dirty="0" smtClean="0"/>
              <a:t>las </a:t>
            </a:r>
            <a:r>
              <a:rPr lang="es-ES" dirty="0"/>
              <a:t>cosas, porque sigue siendo necesario escribir </a:t>
            </a:r>
            <a:r>
              <a:rPr lang="es-ES" dirty="0" smtClean="0"/>
              <a:t>muchísimas ordenes </a:t>
            </a:r>
            <a:r>
              <a:rPr lang="es-ES" dirty="0"/>
              <a:t>para elaborar programas muy simples, pero ayuda </a:t>
            </a:r>
            <a:r>
              <a:rPr lang="es-ES" dirty="0" smtClean="0"/>
              <a:t>porque es </a:t>
            </a:r>
            <a:r>
              <a:rPr lang="es-ES" dirty="0"/>
              <a:t>más sencillo recordar que para sumar hay que </a:t>
            </a:r>
            <a:r>
              <a:rPr lang="es-ES" dirty="0" smtClean="0"/>
              <a:t>escribir ADD </a:t>
            </a:r>
            <a:r>
              <a:rPr lang="es-ES" dirty="0"/>
              <a:t>que acordarse de escribir 1000 0111.</a:t>
            </a:r>
          </a:p>
          <a:p>
            <a:r>
              <a:rPr lang="es-ES" dirty="0"/>
              <a:t>• </a:t>
            </a:r>
            <a:r>
              <a:rPr lang="es-ES" b="1" dirty="0"/>
              <a:t>Lenguajes de alto nivel. Los lenguajes de alto nivel, entre </a:t>
            </a:r>
            <a:r>
              <a:rPr lang="es-ES" b="1" dirty="0" smtClean="0"/>
              <a:t>los </a:t>
            </a:r>
            <a:r>
              <a:rPr lang="es-ES" dirty="0" smtClean="0"/>
              <a:t>que </a:t>
            </a:r>
            <a:r>
              <a:rPr lang="es-ES" dirty="0"/>
              <a:t>se encuentra el C, son la base de la programación. </a:t>
            </a:r>
            <a:r>
              <a:rPr lang="es-ES" dirty="0" smtClean="0"/>
              <a:t>En estos </a:t>
            </a:r>
            <a:r>
              <a:rPr lang="es-ES" dirty="0"/>
              <a:t>lenguajes, en vez de escribir ADD, por ejemplo, </a:t>
            </a:r>
            <a:r>
              <a:rPr lang="es-ES" dirty="0" smtClean="0"/>
              <a:t>podemos escribir </a:t>
            </a:r>
            <a:r>
              <a:rPr lang="es-ES" dirty="0"/>
              <a:t>instrucciones del tipo “C=A+B” (es decir, C es igual </a:t>
            </a:r>
            <a:r>
              <a:rPr lang="es-ES" dirty="0" smtClean="0"/>
              <a:t>a la </a:t>
            </a:r>
            <a:r>
              <a:rPr lang="es-ES" dirty="0"/>
              <a:t>suma de A más B), mucho más cercanas a nuestro </a:t>
            </a:r>
            <a:r>
              <a:rPr lang="es-ES" dirty="0" smtClean="0"/>
              <a:t>idioma natural</a:t>
            </a:r>
            <a:r>
              <a:rPr lang="es-ES" dirty="0"/>
              <a:t>. Existen muchísimos lenguajes de alto nivel: </a:t>
            </a:r>
            <a:r>
              <a:rPr lang="es-ES" dirty="0" smtClean="0"/>
              <a:t>Basic, Pascal</a:t>
            </a:r>
            <a:r>
              <a:rPr lang="es-ES" dirty="0"/>
              <a:t>, Fortran, Cobol, C… pero todos son muy parecidos, </a:t>
            </a:r>
            <a:r>
              <a:rPr lang="es-ES" dirty="0" smtClean="0"/>
              <a:t>de forma </a:t>
            </a:r>
            <a:r>
              <a:rPr lang="es-ES" dirty="0"/>
              <a:t>que una vez aprendido uno, es muy fácil aprender </a:t>
            </a:r>
            <a:r>
              <a:rPr lang="es-ES" dirty="0" smtClean="0"/>
              <a:t>el resto</a:t>
            </a:r>
            <a:r>
              <a:rPr lang="es-ES" dirty="0"/>
              <a:t>. Además, C es uno de los más usados en el mundo (</a:t>
            </a:r>
            <a:r>
              <a:rPr lang="es-ES" dirty="0" smtClean="0"/>
              <a:t>por no </a:t>
            </a:r>
            <a:r>
              <a:rPr lang="es-ES" dirty="0"/>
              <a:t>decir el que más).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/>
              <a:t>Lenguajes orientados a objetos. Estos lenguajes son de </a:t>
            </a:r>
            <a:r>
              <a:rPr lang="es-ES" b="1" dirty="0" smtClean="0"/>
              <a:t>nivel </a:t>
            </a:r>
            <a:r>
              <a:rPr lang="es-ES" dirty="0" smtClean="0"/>
              <a:t>todavía </a:t>
            </a:r>
            <a:r>
              <a:rPr lang="es-ES" dirty="0"/>
              <a:t>más alto que los anteriores, aunque se basan en </a:t>
            </a:r>
            <a:r>
              <a:rPr lang="es-ES" dirty="0" smtClean="0"/>
              <a:t>ellos (por </a:t>
            </a:r>
            <a:r>
              <a:rPr lang="es-ES" dirty="0"/>
              <a:t>ejemplo C++ y Java, dos de los mas comunes, son </a:t>
            </a:r>
            <a:r>
              <a:rPr lang="es-ES" dirty="0" smtClean="0"/>
              <a:t>extensiones de </a:t>
            </a:r>
            <a:r>
              <a:rPr lang="es-ES" dirty="0"/>
              <a:t>C). Al contrario de lo que ocurre con los lenguajes </a:t>
            </a:r>
            <a:r>
              <a:rPr lang="es-ES" dirty="0" smtClean="0"/>
              <a:t>de alto </a:t>
            </a:r>
            <a:r>
              <a:rPr lang="es-ES" dirty="0"/>
              <a:t>nivel y el ensamblador, no es posible aprender un </a:t>
            </a:r>
            <a:r>
              <a:rPr lang="es-ES" dirty="0" smtClean="0"/>
              <a:t>lenguaje orientado </a:t>
            </a:r>
            <a:r>
              <a:rPr lang="es-ES" dirty="0"/>
              <a:t>a objetos sin conocer antes un lenguaje </a:t>
            </a:r>
            <a:r>
              <a:rPr lang="es-ES" dirty="0" smtClean="0"/>
              <a:t>de alto </a:t>
            </a:r>
            <a:r>
              <a:rPr lang="es-ES" dirty="0"/>
              <a:t>nivel. El objetivo de los lenguajes orientados a </a:t>
            </a:r>
            <a:r>
              <a:rPr lang="es-ES" dirty="0" smtClean="0"/>
              <a:t>objetos es</a:t>
            </a:r>
            <a:r>
              <a:rPr lang="es-ES" dirty="0"/>
              <a:t>, sobre todo, crear programas, no desde cero, sino </a:t>
            </a:r>
            <a:r>
              <a:rPr lang="es-ES" dirty="0" smtClean="0"/>
              <a:t>juntando piezas </a:t>
            </a:r>
            <a:r>
              <a:rPr lang="es-ES" dirty="0"/>
              <a:t>programadas por otras personas.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dirty="0"/>
              <a:t>Existen dos formas de obtener un código </a:t>
            </a:r>
            <a:r>
              <a:rPr lang="es-ES" dirty="0" smtClean="0"/>
              <a:t>ejecutable a </a:t>
            </a:r>
            <a:r>
              <a:rPr lang="es-ES" dirty="0"/>
              <a:t>partir de un programa fuente: los intérpretes y los compiladores:</a:t>
            </a:r>
          </a:p>
          <a:p>
            <a:r>
              <a:rPr lang="es-ES" dirty="0"/>
              <a:t>• </a:t>
            </a:r>
            <a:r>
              <a:rPr lang="es-ES" b="1" dirty="0"/>
              <a:t>Los intérpretes son lenguajes que leen las instrucciones </a:t>
            </a:r>
            <a:r>
              <a:rPr lang="es-ES" b="1" dirty="0" smtClean="0"/>
              <a:t>en </a:t>
            </a:r>
            <a:r>
              <a:rPr lang="es-ES" dirty="0" smtClean="0"/>
              <a:t>alto </a:t>
            </a:r>
            <a:r>
              <a:rPr lang="es-ES" dirty="0"/>
              <a:t>nivel y las traducen en tiempo real a lenguaje máquina.</a:t>
            </a:r>
          </a:p>
          <a:p>
            <a:r>
              <a:rPr lang="es-ES" dirty="0"/>
              <a:t>• </a:t>
            </a:r>
            <a:r>
              <a:rPr lang="es-ES" b="1" dirty="0"/>
              <a:t>Los compiladores, en cambio, leen todo el fichero con el </a:t>
            </a:r>
            <a:r>
              <a:rPr lang="es-ES" b="1" dirty="0" smtClean="0"/>
              <a:t>programa </a:t>
            </a:r>
            <a:r>
              <a:rPr lang="es-ES" dirty="0" smtClean="0"/>
              <a:t>y </a:t>
            </a:r>
            <a:r>
              <a:rPr lang="es-ES" dirty="0"/>
              <a:t>lo traducen a otro fichero en lenguaje máquina, </a:t>
            </a:r>
            <a:r>
              <a:rPr lang="es-ES" dirty="0" smtClean="0"/>
              <a:t>que es </a:t>
            </a:r>
            <a:r>
              <a:rPr lang="es-ES" dirty="0"/>
              <a:t>el que podemos ejecutar. Existen, pues, dos ficheros en </a:t>
            </a:r>
            <a:r>
              <a:rPr lang="es-ES" dirty="0" smtClean="0"/>
              <a:t>vez de </a:t>
            </a:r>
            <a:r>
              <a:rPr lang="es-ES" dirty="0"/>
              <a:t>uno, pero la gran ventaja es que una vez compilado el </a:t>
            </a:r>
            <a:r>
              <a:rPr lang="es-ES" dirty="0" smtClean="0"/>
              <a:t>programa, el </a:t>
            </a:r>
            <a:r>
              <a:rPr lang="es-ES" dirty="0"/>
              <a:t>compilador ya no es necesario y, además, el </a:t>
            </a:r>
            <a:r>
              <a:rPr lang="es-ES" dirty="0" smtClean="0"/>
              <a:t>lenguaje compilado </a:t>
            </a:r>
            <a:r>
              <a:rPr lang="es-ES" dirty="0"/>
              <a:t>se ejecuta mucho más rápido que el </a:t>
            </a:r>
            <a:r>
              <a:rPr lang="es-ES" dirty="0" smtClean="0"/>
              <a:t>interpretado. </a:t>
            </a:r>
            <a:endParaRPr lang="es-ES" dirty="0"/>
          </a:p>
          <a:p>
            <a:pPr>
              <a:buNone/>
            </a:pPr>
            <a:r>
              <a:rPr lang="es-ES" dirty="0" smtClean="0"/>
              <a:t>	C++ </a:t>
            </a:r>
            <a:r>
              <a:rPr lang="es-ES" dirty="0"/>
              <a:t>pertenece a este último tipo de lenguajes. En los </a:t>
            </a:r>
            <a:r>
              <a:rPr lang="es-ES" dirty="0" smtClean="0"/>
              <a:t>siguientes apartados </a:t>
            </a:r>
            <a:r>
              <a:rPr lang="es-ES" dirty="0"/>
              <a:t>veremos cómo realizar todo el proceso para </a:t>
            </a:r>
            <a:r>
              <a:rPr lang="es-ES" dirty="0" smtClean="0"/>
              <a:t>conseguir un </a:t>
            </a:r>
            <a:r>
              <a:rPr lang="es-ES" dirty="0"/>
              <a:t>programa ejecutable.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Un primer programa en </a:t>
            </a:r>
            <a:r>
              <a:rPr lang="es-ES" b="1" dirty="0" smtClean="0"/>
              <a:t>C++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s-ES" dirty="0"/>
              <a:t>// Todas las líneas que empiezan por // son </a:t>
            </a:r>
            <a:r>
              <a:rPr lang="es-ES" dirty="0" err="1" smtClean="0"/>
              <a:t>comentariosque</a:t>
            </a:r>
            <a:r>
              <a:rPr lang="es-ES" dirty="0" smtClean="0"/>
              <a:t> </a:t>
            </a:r>
            <a:r>
              <a:rPr lang="es-ES" dirty="0"/>
              <a:t>sirven para explicar cómo es el</a:t>
            </a:r>
          </a:p>
          <a:p>
            <a:r>
              <a:rPr lang="es-ES" dirty="0"/>
              <a:t>// programa. Se puede escribir lo que se quiera.</a:t>
            </a:r>
          </a:p>
          <a:p>
            <a:r>
              <a:rPr lang="es-ES" dirty="0"/>
              <a:t>/* Si se quieren hacer comentarios de más de una línea </a:t>
            </a:r>
            <a:r>
              <a:rPr lang="es-ES" dirty="0" smtClean="0"/>
              <a:t>se puede </a:t>
            </a:r>
            <a:r>
              <a:rPr lang="es-ES" dirty="0"/>
              <a:t>escribir todo el comentario entre los símbolos </a:t>
            </a:r>
            <a:r>
              <a:rPr lang="es-ES" dirty="0" smtClean="0"/>
              <a:t>/* (</a:t>
            </a:r>
            <a:r>
              <a:rPr lang="es-ES" dirty="0"/>
              <a:t>inicio de comentario) y fin de comentario: */</a:t>
            </a:r>
          </a:p>
          <a:p>
            <a:r>
              <a:rPr lang="es-ES" dirty="0"/>
              <a:t>/* Al principio del texto es útil poner comentarios </a:t>
            </a:r>
            <a:r>
              <a:rPr lang="es-ES" dirty="0" smtClean="0"/>
              <a:t>que expliquen </a:t>
            </a:r>
            <a:r>
              <a:rPr lang="es-ES" dirty="0"/>
              <a:t>cosas del programa:*/</a:t>
            </a:r>
          </a:p>
          <a:p>
            <a:r>
              <a:rPr lang="es-ES" dirty="0"/>
              <a:t>// Programa: </a:t>
            </a:r>
            <a:r>
              <a:rPr lang="es-ES" dirty="0" smtClean="0"/>
              <a:t>Bienvenida.cpp</a:t>
            </a:r>
            <a:endParaRPr lang="es-ES" dirty="0"/>
          </a:p>
          <a:p>
            <a:r>
              <a:rPr lang="es-ES" dirty="0"/>
              <a:t>// Utilidad: Imprime en pantalla un mensaje de bienvenida.</a:t>
            </a:r>
          </a:p>
          <a:p>
            <a:r>
              <a:rPr lang="es-ES" dirty="0"/>
              <a:t>// Programador: Yo mismo</a:t>
            </a:r>
            <a:r>
              <a:rPr lang="es-ES" dirty="0" smtClean="0"/>
              <a:t>.</a:t>
            </a:r>
          </a:p>
          <a:p>
            <a:r>
              <a:rPr lang="es-ES" dirty="0" smtClean="0"/>
              <a:t>// Fecha: La de hoy.</a:t>
            </a:r>
          </a:p>
          <a:p>
            <a:r>
              <a:rPr lang="es-ES" dirty="0" smtClean="0"/>
              <a:t>// Versión: 1.0</a:t>
            </a:r>
          </a:p>
          <a:p>
            <a:r>
              <a:rPr lang="es-ES" dirty="0" smtClean="0"/>
              <a:t>/* Una vez se han escrito todos los comentarios que parezcan oportunos, al principio del texto hay que poner todas aquellas indicaciones generales que necesite el programa. Por ejemplo: */</a:t>
            </a:r>
          </a:p>
          <a:p>
            <a:r>
              <a:rPr lang="es-ES" dirty="0" smtClean="0"/>
              <a:t>#</a:t>
            </a:r>
            <a:r>
              <a:rPr lang="es-ES" dirty="0" err="1"/>
              <a:t>include</a:t>
            </a:r>
            <a:r>
              <a:rPr lang="es-ES" dirty="0"/>
              <a:t> </a:t>
            </a:r>
            <a:r>
              <a:rPr lang="es-ES" dirty="0" smtClean="0"/>
              <a:t>&lt;</a:t>
            </a:r>
            <a:r>
              <a:rPr lang="es-ES" dirty="0" err="1" smtClean="0"/>
              <a:t>iostream</a:t>
            </a:r>
            <a:r>
              <a:rPr lang="es-ES" dirty="0" smtClean="0"/>
              <a:t>&gt;</a:t>
            </a:r>
            <a:endParaRPr lang="es-ES" dirty="0"/>
          </a:p>
          <a:p>
            <a:r>
              <a:rPr lang="es-ES" dirty="0"/>
              <a:t>/* En la línea anterior, #</a:t>
            </a:r>
            <a:r>
              <a:rPr lang="es-ES" i="1" dirty="0" err="1"/>
              <a:t>include</a:t>
            </a:r>
            <a:r>
              <a:rPr lang="es-ES" i="1" dirty="0"/>
              <a:t> es una </a:t>
            </a:r>
            <a:r>
              <a:rPr lang="es-ES" b="1" i="1" dirty="0"/>
              <a:t>palabra </a:t>
            </a:r>
            <a:r>
              <a:rPr lang="es-ES" b="1" i="1" dirty="0" smtClean="0"/>
              <a:t>reservada. </a:t>
            </a:r>
            <a:r>
              <a:rPr lang="es-ES" dirty="0" smtClean="0"/>
              <a:t>En C++ ,#</a:t>
            </a:r>
            <a:r>
              <a:rPr lang="es-ES" i="1" dirty="0" err="1"/>
              <a:t>include</a:t>
            </a:r>
            <a:r>
              <a:rPr lang="es-ES" i="1" dirty="0"/>
              <a:t> significa que a continuación se va a </a:t>
            </a:r>
            <a:r>
              <a:rPr lang="es-ES" i="1" dirty="0" smtClean="0"/>
              <a:t>poner </a:t>
            </a:r>
            <a:r>
              <a:rPr lang="es-ES" dirty="0" smtClean="0"/>
              <a:t>entre </a:t>
            </a:r>
            <a:r>
              <a:rPr lang="es-ES" dirty="0"/>
              <a:t>los signos &lt; y &gt; el nombre de un fichero ya </a:t>
            </a:r>
            <a:r>
              <a:rPr lang="es-ES" dirty="0" smtClean="0"/>
              <a:t>programado. Ese </a:t>
            </a:r>
            <a:r>
              <a:rPr lang="es-ES" dirty="0"/>
              <a:t>fichero contiene órdenes del lenguaje que </a:t>
            </a:r>
            <a:r>
              <a:rPr lang="es-ES" dirty="0" smtClean="0"/>
              <a:t>se van </a:t>
            </a:r>
            <a:r>
              <a:rPr lang="es-ES" dirty="0"/>
              <a:t>a usar en nuestro </a:t>
            </a:r>
            <a:r>
              <a:rPr lang="es-ES" dirty="0" smtClean="0"/>
              <a:t>programa. Concretamente</a:t>
            </a:r>
            <a:r>
              <a:rPr lang="es-ES" dirty="0"/>
              <a:t>, la línea anterior dice que hay que </a:t>
            </a:r>
            <a:r>
              <a:rPr lang="es-ES" dirty="0" smtClean="0"/>
              <a:t>incluir el </a:t>
            </a:r>
            <a:r>
              <a:rPr lang="es-ES" dirty="0"/>
              <a:t>fichero </a:t>
            </a:r>
            <a:r>
              <a:rPr lang="es-ES" i="1" dirty="0" err="1"/>
              <a:t>stdio.h</a:t>
            </a:r>
            <a:r>
              <a:rPr lang="es-ES" i="1" dirty="0"/>
              <a:t>, ya que más adelante en el programa </a:t>
            </a:r>
            <a:r>
              <a:rPr lang="es-ES" i="1" dirty="0" smtClean="0"/>
              <a:t>se </a:t>
            </a:r>
            <a:r>
              <a:rPr lang="es-ES" dirty="0" smtClean="0"/>
              <a:t>va </a:t>
            </a:r>
            <a:r>
              <a:rPr lang="es-ES" dirty="0"/>
              <a:t>a usar una orden que hay programada dentro de él</a:t>
            </a:r>
            <a:r>
              <a:rPr lang="es-ES" dirty="0" smtClean="0"/>
              <a:t>. </a:t>
            </a:r>
            <a:r>
              <a:rPr lang="es-ES" dirty="0"/>
              <a:t>Estos ficheros con órdenes ya programadas son las </a:t>
            </a:r>
            <a:r>
              <a:rPr lang="es-ES" b="1" dirty="0"/>
              <a:t>librerías.*/</a:t>
            </a:r>
            <a:endParaRPr lang="es-ES" dirty="0"/>
          </a:p>
        </p:txBody>
      </p:sp>
      <p:sp>
        <p:nvSpPr>
          <p:cNvPr id="4" name="3 Llamada rectangular redondeada"/>
          <p:cNvSpPr/>
          <p:nvPr/>
        </p:nvSpPr>
        <p:spPr>
          <a:xfrm>
            <a:off x="5572132" y="2857496"/>
            <a:ext cx="2857520" cy="785818"/>
          </a:xfrm>
          <a:prstGeom prst="wedgeRoundRectCallout">
            <a:avLst>
              <a:gd name="adj1" fmla="val -66228"/>
              <a:gd name="adj2" fmla="val 151944"/>
              <a:gd name="adj3" fmla="val 16667"/>
            </a:avLst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CuadroTexto"/>
          <p:cNvSpPr txBox="1"/>
          <p:nvPr/>
        </p:nvSpPr>
        <p:spPr>
          <a:xfrm>
            <a:off x="5643570" y="2971712"/>
            <a:ext cx="28575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Una </a:t>
            </a:r>
            <a:r>
              <a:rPr lang="es-ES" sz="1100" b="1" dirty="0"/>
              <a:t>palabra reservada es una palabra que tiene un </a:t>
            </a:r>
            <a:r>
              <a:rPr lang="es-ES" sz="1100" b="1" dirty="0" smtClean="0"/>
              <a:t>significado </a:t>
            </a:r>
            <a:r>
              <a:rPr lang="es-ES" sz="1100" dirty="0" smtClean="0"/>
              <a:t>especial </a:t>
            </a:r>
            <a:r>
              <a:rPr lang="es-ES" sz="1100" dirty="0"/>
              <a:t>en el lenguaje y sólo se puede usar </a:t>
            </a:r>
            <a:r>
              <a:rPr lang="es-ES" sz="1100" dirty="0" smtClean="0"/>
              <a:t>para eso </a:t>
            </a:r>
            <a:r>
              <a:rPr lang="es-ES" sz="1100" dirty="0"/>
              <a:t>en concreto.</a:t>
            </a:r>
          </a:p>
        </p:txBody>
      </p:sp>
      <p:sp>
        <p:nvSpPr>
          <p:cNvPr id="7" name="6 Llamada rectangular redondeada"/>
          <p:cNvSpPr/>
          <p:nvPr/>
        </p:nvSpPr>
        <p:spPr>
          <a:xfrm>
            <a:off x="5572132" y="5500702"/>
            <a:ext cx="3143272" cy="1285884"/>
          </a:xfrm>
          <a:prstGeom prst="wedgeRoundRectCallout">
            <a:avLst>
              <a:gd name="adj1" fmla="val -159994"/>
              <a:gd name="adj2" fmla="val -44849"/>
              <a:gd name="adj3" fmla="val 16667"/>
            </a:avLst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7 CuadroTexto"/>
          <p:cNvSpPr txBox="1"/>
          <p:nvPr/>
        </p:nvSpPr>
        <p:spPr>
          <a:xfrm>
            <a:off x="5643570" y="5704991"/>
            <a:ext cx="3000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Una </a:t>
            </a:r>
            <a:r>
              <a:rPr lang="es-ES" sz="1100" b="1" dirty="0"/>
              <a:t>librería es un conjunto, entre otras cosas, </a:t>
            </a:r>
            <a:r>
              <a:rPr lang="es-ES" sz="1100" b="1" dirty="0" smtClean="0"/>
              <a:t>de subrutinas </a:t>
            </a:r>
            <a:r>
              <a:rPr lang="es-ES" sz="1100" b="1" dirty="0"/>
              <a:t>de uso habitual ya </a:t>
            </a:r>
            <a:r>
              <a:rPr lang="es-ES" sz="1100" b="1" dirty="0" smtClean="0"/>
              <a:t> programadas</a:t>
            </a:r>
            <a:r>
              <a:rPr lang="es-ES" sz="1100" b="1" dirty="0"/>
              <a:t>. Resulta </a:t>
            </a:r>
            <a:r>
              <a:rPr lang="es-ES" sz="1100" b="1" dirty="0" smtClean="0"/>
              <a:t>muy </a:t>
            </a:r>
            <a:r>
              <a:rPr lang="es-ES" sz="1100" dirty="0" smtClean="0"/>
              <a:t>útil </a:t>
            </a:r>
            <a:r>
              <a:rPr lang="es-ES" sz="1100" dirty="0"/>
              <a:t>ya que ahorra trabajo a la hora de crear </a:t>
            </a:r>
            <a:r>
              <a:rPr lang="es-ES" sz="1100" dirty="0" smtClean="0"/>
              <a:t>programas, porque </a:t>
            </a:r>
            <a:r>
              <a:rPr lang="es-ES" sz="1100" dirty="0"/>
              <a:t>no hay que volver a programarlas.</a:t>
            </a:r>
          </a:p>
        </p:txBody>
      </p:sp>
      <p:sp>
        <p:nvSpPr>
          <p:cNvPr id="9" name="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 smtClean="0"/>
          </a:p>
          <a:p>
            <a:endParaRPr lang="es-ES" dirty="0"/>
          </a:p>
          <a:p>
            <a:pPr>
              <a:buNone/>
            </a:pPr>
            <a:endParaRPr lang="es-ES" dirty="0"/>
          </a:p>
          <a:p>
            <a:endParaRPr lang="es-ES" dirty="0"/>
          </a:p>
        </p:txBody>
      </p:sp>
      <p:sp>
        <p:nvSpPr>
          <p:cNvPr id="9" name="2 Marcador de contenido"/>
          <p:cNvSpPr txBox="1">
            <a:spLocks/>
          </p:cNvSpPr>
          <p:nvPr/>
        </p:nvSpPr>
        <p:spPr>
          <a:xfrm>
            <a:off x="609600" y="1752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2000" dirty="0"/>
              <a:t>/*Las órdenes concretas que se ejecutan al empezar </a:t>
            </a:r>
            <a:r>
              <a:rPr lang="es-ES" sz="2000" dirty="0" smtClean="0"/>
              <a:t>el programa </a:t>
            </a:r>
            <a:r>
              <a:rPr lang="es-ES" sz="2000" dirty="0"/>
              <a:t>deben ir justo a continuación de la </a:t>
            </a:r>
            <a:r>
              <a:rPr lang="es-ES" sz="2000" dirty="0" smtClean="0"/>
              <a:t>palabra reservada </a:t>
            </a:r>
            <a:r>
              <a:rPr lang="es-ES" sz="2000" i="1" dirty="0" err="1"/>
              <a:t>main</a:t>
            </a:r>
            <a:r>
              <a:rPr lang="es-ES" sz="2000" i="1" dirty="0"/>
              <a:t> (principal). </a:t>
            </a:r>
            <a:r>
              <a:rPr lang="es-ES" sz="2000" i="1" dirty="0" err="1"/>
              <a:t>main</a:t>
            </a:r>
            <a:r>
              <a:rPr lang="es-ES" sz="2000" i="1" dirty="0"/>
              <a:t> es una palabra </a:t>
            </a:r>
            <a:r>
              <a:rPr lang="es-ES" sz="2000" i="1" dirty="0" smtClean="0"/>
              <a:t>reservada </a:t>
            </a:r>
            <a:r>
              <a:rPr lang="es-ES" sz="2000" dirty="0" smtClean="0"/>
              <a:t>que </a:t>
            </a:r>
            <a:r>
              <a:rPr lang="es-ES" sz="2000" dirty="0"/>
              <a:t>sirve para indicar el inicio del programa </a:t>
            </a:r>
            <a:r>
              <a:rPr lang="es-ES" sz="2000" dirty="0" smtClean="0"/>
              <a:t>propiamente dicho </a:t>
            </a:r>
            <a:r>
              <a:rPr lang="es-ES" sz="2000" dirty="0"/>
              <a:t>y siempre debe ir seguida de “()”. Más adelante </a:t>
            </a:r>
            <a:r>
              <a:rPr lang="es-ES" sz="2000" dirty="0" smtClean="0"/>
              <a:t>ya se </a:t>
            </a:r>
            <a:r>
              <a:rPr lang="es-ES" sz="2000" dirty="0"/>
              <a:t>explicará por qué.*/</a:t>
            </a:r>
          </a:p>
          <a:p>
            <a:r>
              <a:rPr lang="es-ES" sz="2000" dirty="0" err="1"/>
              <a:t>main</a:t>
            </a:r>
            <a:r>
              <a:rPr lang="es-ES" sz="2000" dirty="0"/>
              <a:t>()</a:t>
            </a:r>
          </a:p>
          <a:p>
            <a:r>
              <a:rPr lang="es-ES" sz="2000" dirty="0"/>
              <a:t>{</a:t>
            </a:r>
          </a:p>
          <a:p>
            <a:r>
              <a:rPr lang="es-ES" sz="2000" dirty="0"/>
              <a:t>/*Los símbolos </a:t>
            </a:r>
            <a:r>
              <a:rPr lang="es-ES" sz="2000" i="1" dirty="0"/>
              <a:t>{ y } sirven para indicar el principio y </a:t>
            </a:r>
            <a:r>
              <a:rPr lang="es-ES" sz="2000" i="1" dirty="0" smtClean="0"/>
              <a:t>el </a:t>
            </a:r>
            <a:r>
              <a:rPr lang="es-ES" sz="2000" dirty="0" smtClean="0"/>
              <a:t>final </a:t>
            </a:r>
            <a:r>
              <a:rPr lang="es-ES" sz="2000" dirty="0"/>
              <a:t>de las órdenes a ejecutar. Nuestro programa sólo </a:t>
            </a:r>
            <a:r>
              <a:rPr lang="es-ES" sz="2000" dirty="0" smtClean="0"/>
              <a:t>va a </a:t>
            </a:r>
            <a:r>
              <a:rPr lang="es-ES" sz="2000" dirty="0"/>
              <a:t>imprimir en pantalla. Para imprimir en pantalla hay </a:t>
            </a:r>
            <a:r>
              <a:rPr lang="es-ES" sz="2000" dirty="0" smtClean="0"/>
              <a:t>una orden </a:t>
            </a:r>
            <a:r>
              <a:rPr lang="es-ES" sz="2000" dirty="0"/>
              <a:t>ya programada en el fichero </a:t>
            </a:r>
            <a:r>
              <a:rPr lang="es-ES" sz="2000" i="1" dirty="0" err="1" smtClean="0"/>
              <a:t>iostream</a:t>
            </a:r>
            <a:r>
              <a:rPr lang="es-ES" sz="2000" i="1" dirty="0" smtClean="0"/>
              <a:t> </a:t>
            </a:r>
            <a:r>
              <a:rPr lang="es-ES" sz="2000" i="1" dirty="0"/>
              <a:t>(por eso </a:t>
            </a:r>
            <a:r>
              <a:rPr lang="es-ES" sz="2000" i="1" dirty="0" smtClean="0"/>
              <a:t>se </a:t>
            </a:r>
            <a:r>
              <a:rPr lang="es-ES" sz="2000" dirty="0" smtClean="0"/>
              <a:t>incluyó </a:t>
            </a:r>
            <a:r>
              <a:rPr lang="es-ES" sz="2000" dirty="0"/>
              <a:t>antes) que se llama </a:t>
            </a:r>
            <a:r>
              <a:rPr lang="es-ES" sz="2000" i="1" dirty="0" err="1" smtClean="0"/>
              <a:t>cout</a:t>
            </a:r>
            <a:r>
              <a:rPr lang="es-ES" sz="2000" i="1" dirty="0" smtClean="0"/>
              <a:t>. Esta </a:t>
            </a:r>
            <a:r>
              <a:rPr lang="es-ES" sz="2000" i="1" dirty="0"/>
              <a:t>orden es lo que </a:t>
            </a:r>
            <a:r>
              <a:rPr lang="es-ES" sz="2000" i="1" dirty="0" smtClean="0"/>
              <a:t>se </a:t>
            </a:r>
            <a:r>
              <a:rPr lang="es-ES" sz="2000" dirty="0" smtClean="0"/>
              <a:t>llama </a:t>
            </a:r>
            <a:r>
              <a:rPr lang="es-ES" sz="2000" dirty="0"/>
              <a:t>una </a:t>
            </a:r>
            <a:r>
              <a:rPr lang="es-ES" sz="2000" b="1" dirty="0"/>
              <a:t>subrutina.*/</a:t>
            </a:r>
          </a:p>
          <a:p>
            <a:r>
              <a:rPr lang="es-ES" sz="2000" dirty="0" err="1" smtClean="0"/>
              <a:t>cout</a:t>
            </a:r>
            <a:r>
              <a:rPr lang="es-ES" sz="2000" dirty="0" smtClean="0"/>
              <a:t>&lt;&lt;“</a:t>
            </a:r>
            <a:r>
              <a:rPr lang="es-ES" sz="2000" dirty="0"/>
              <a:t>Hola, soy un programa muy educado.\n</a:t>
            </a:r>
            <a:r>
              <a:rPr lang="es-ES" sz="2000" dirty="0" smtClean="0"/>
              <a:t>”;</a:t>
            </a:r>
            <a:endParaRPr kumimoji="0" lang="es-ES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2" name="11 Grupo"/>
          <p:cNvGrpSpPr/>
          <p:nvPr/>
        </p:nvGrpSpPr>
        <p:grpSpPr>
          <a:xfrm>
            <a:off x="5857884" y="5500702"/>
            <a:ext cx="3143272" cy="1285884"/>
            <a:chOff x="5857884" y="5500702"/>
            <a:chExt cx="3143272" cy="1285884"/>
          </a:xfrm>
        </p:grpSpPr>
        <p:sp>
          <p:nvSpPr>
            <p:cNvPr id="10" name="9 Llamada rectangular redondeada"/>
            <p:cNvSpPr/>
            <p:nvPr/>
          </p:nvSpPr>
          <p:spPr>
            <a:xfrm>
              <a:off x="5857884" y="5500702"/>
              <a:ext cx="3143272" cy="1285884"/>
            </a:xfrm>
            <a:prstGeom prst="wedgeRoundRectCallout">
              <a:avLst>
                <a:gd name="adj1" fmla="val -165406"/>
                <a:gd name="adj2" fmla="val -64694"/>
                <a:gd name="adj3" fmla="val 16667"/>
              </a:avLst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5929322" y="5704991"/>
              <a:ext cx="300039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Una </a:t>
              </a:r>
              <a:r>
                <a:rPr lang="es-ES" b="1" dirty="0"/>
                <a:t>subrutina es un conjunto de órdenes más </a:t>
              </a:r>
              <a:r>
                <a:rPr lang="es-ES" b="1" dirty="0" smtClean="0"/>
                <a:t>simples </a:t>
              </a:r>
              <a:r>
                <a:rPr lang="es-ES" dirty="0" smtClean="0"/>
                <a:t>agrupadas </a:t>
              </a:r>
              <a:r>
                <a:rPr lang="es-ES" dirty="0"/>
                <a:t>bajo un nombre.</a:t>
              </a:r>
            </a:p>
          </p:txBody>
        </p:sp>
      </p:grp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/*La subrutina </a:t>
            </a:r>
            <a:r>
              <a:rPr lang="es-ES" dirty="0" err="1" smtClean="0"/>
              <a:t>cout</a:t>
            </a:r>
            <a:r>
              <a:rPr lang="es-ES" dirty="0" smtClean="0"/>
              <a:t>, </a:t>
            </a:r>
            <a:r>
              <a:rPr lang="es-ES" dirty="0"/>
              <a:t>imprime en pantalla lo que se </a:t>
            </a:r>
            <a:r>
              <a:rPr lang="es-ES" dirty="0" smtClean="0"/>
              <a:t>le indica </a:t>
            </a:r>
            <a:r>
              <a:rPr lang="es-ES" dirty="0"/>
              <a:t>a continuación entre paréntesis. Esta </a:t>
            </a:r>
            <a:r>
              <a:rPr lang="es-ES" dirty="0" smtClean="0"/>
              <a:t>información, que </a:t>
            </a:r>
            <a:r>
              <a:rPr lang="es-ES" dirty="0"/>
              <a:t>se envía a una subrutina, se llama parámetro y en </a:t>
            </a:r>
            <a:r>
              <a:rPr lang="es-ES" dirty="0" smtClean="0"/>
              <a:t>este caso </a:t>
            </a:r>
            <a:r>
              <a:rPr lang="es-ES" dirty="0"/>
              <a:t>es un mensaje entre comillas. El ; de final indica </a:t>
            </a:r>
            <a:r>
              <a:rPr lang="es-ES" dirty="0" smtClean="0"/>
              <a:t>que se </a:t>
            </a:r>
            <a:r>
              <a:rPr lang="es-ES" dirty="0"/>
              <a:t>ha acabado la orden</a:t>
            </a:r>
            <a:r>
              <a:rPr lang="es-ES" dirty="0" smtClean="0"/>
              <a:t>.*/ </a:t>
            </a:r>
          </a:p>
          <a:p>
            <a:r>
              <a:rPr lang="es-ES" dirty="0" smtClean="0"/>
              <a:t>}</a:t>
            </a:r>
            <a:endParaRPr lang="es-ES" dirty="0"/>
          </a:p>
        </p:txBody>
      </p:sp>
      <p:grpSp>
        <p:nvGrpSpPr>
          <p:cNvPr id="4" name="3 Grupo"/>
          <p:cNvGrpSpPr/>
          <p:nvPr/>
        </p:nvGrpSpPr>
        <p:grpSpPr>
          <a:xfrm>
            <a:off x="5072066" y="4572008"/>
            <a:ext cx="3286148" cy="1928826"/>
            <a:chOff x="5357818" y="5500702"/>
            <a:chExt cx="3643338" cy="1928826"/>
          </a:xfrm>
        </p:grpSpPr>
        <p:sp>
          <p:nvSpPr>
            <p:cNvPr id="5" name="4 Llamada rectangular redondeada"/>
            <p:cNvSpPr/>
            <p:nvPr/>
          </p:nvSpPr>
          <p:spPr>
            <a:xfrm>
              <a:off x="5357818" y="5500702"/>
              <a:ext cx="3643338" cy="1928826"/>
            </a:xfrm>
            <a:prstGeom prst="wedgeRoundRectCallout">
              <a:avLst>
                <a:gd name="adj1" fmla="val -36189"/>
                <a:gd name="adj2" fmla="val -103833"/>
                <a:gd name="adj3" fmla="val 16667"/>
              </a:avLst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5 CuadroTexto"/>
            <p:cNvSpPr txBox="1"/>
            <p:nvPr/>
          </p:nvSpPr>
          <p:spPr>
            <a:xfrm>
              <a:off x="5929322" y="5704991"/>
              <a:ext cx="300039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Un </a:t>
              </a:r>
              <a:r>
                <a:rPr lang="es-ES" b="1" dirty="0"/>
                <a:t>parámetro es una </a:t>
              </a:r>
              <a:r>
                <a:rPr lang="es-ES" b="1" dirty="0" smtClean="0"/>
                <a:t>información </a:t>
              </a:r>
              <a:r>
                <a:rPr lang="es-ES" b="1" dirty="0"/>
                <a:t>que se envía a </a:t>
              </a:r>
              <a:r>
                <a:rPr lang="es-ES" b="1" dirty="0" smtClean="0"/>
                <a:t>una subrutina </a:t>
              </a:r>
              <a:r>
                <a:rPr lang="es-ES" b="1" dirty="0"/>
                <a:t>y que </a:t>
              </a:r>
              <a:r>
                <a:rPr lang="es-ES" b="1" dirty="0" smtClean="0"/>
                <a:t>habitualmente </a:t>
              </a:r>
              <a:r>
                <a:rPr lang="es-ES" b="1" dirty="0"/>
                <a:t>modifica su funcionamiento.</a:t>
              </a:r>
              <a:endParaRPr lang="es-ES" dirty="0"/>
            </a:p>
          </p:txBody>
        </p:sp>
      </p:grpSp>
      <p:sp>
        <p:nvSpPr>
          <p:cNvPr id="7" name="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// Programa: </a:t>
            </a:r>
            <a:r>
              <a:rPr lang="es-ES" dirty="0" err="1"/>
              <a:t>Bienvenida.c</a:t>
            </a:r>
            <a:endParaRPr lang="es-ES" dirty="0"/>
          </a:p>
          <a:p>
            <a:r>
              <a:rPr lang="es-ES" dirty="0"/>
              <a:t>// Utilidad: Imprime en pantalla un mensaje de bienvenida.</a:t>
            </a:r>
          </a:p>
          <a:p>
            <a:r>
              <a:rPr lang="es-ES" dirty="0"/>
              <a:t>// Programador: Mismamente yo.</a:t>
            </a:r>
          </a:p>
          <a:p>
            <a:r>
              <a:rPr lang="es-ES" dirty="0"/>
              <a:t>// Fecha: La de hoy.</a:t>
            </a:r>
          </a:p>
          <a:p>
            <a:r>
              <a:rPr lang="es-ES" dirty="0"/>
              <a:t>// Versión: 1.0</a:t>
            </a:r>
          </a:p>
          <a:p>
            <a:r>
              <a:rPr lang="es-ES" dirty="0"/>
              <a:t>#</a:t>
            </a:r>
            <a:r>
              <a:rPr lang="es-ES" dirty="0" err="1"/>
              <a:t>include</a:t>
            </a:r>
            <a:r>
              <a:rPr lang="es-ES" dirty="0"/>
              <a:t> </a:t>
            </a:r>
            <a:r>
              <a:rPr lang="es-ES" dirty="0" smtClean="0"/>
              <a:t>&lt;</a:t>
            </a:r>
            <a:r>
              <a:rPr lang="es-ES" dirty="0" err="1" smtClean="0"/>
              <a:t>iostream</a:t>
            </a:r>
            <a:r>
              <a:rPr lang="es-ES" dirty="0" smtClean="0"/>
              <a:t>&gt;</a:t>
            </a:r>
            <a:endParaRPr lang="es-ES" dirty="0"/>
          </a:p>
          <a:p>
            <a:r>
              <a:rPr lang="es-ES" dirty="0" err="1"/>
              <a:t>main</a:t>
            </a:r>
            <a:r>
              <a:rPr lang="es-ES" dirty="0"/>
              <a:t>()</a:t>
            </a:r>
          </a:p>
          <a:p>
            <a:r>
              <a:rPr lang="es-ES" dirty="0"/>
              <a:t>{</a:t>
            </a:r>
          </a:p>
          <a:p>
            <a:r>
              <a:rPr lang="es-ES" dirty="0" err="1" smtClean="0"/>
              <a:t>cout</a:t>
            </a:r>
            <a:r>
              <a:rPr lang="es-ES" dirty="0" smtClean="0"/>
              <a:t>&lt;&lt;“Hola</a:t>
            </a:r>
            <a:r>
              <a:rPr lang="es-ES" dirty="0"/>
              <a:t>, soy un programa muy educado.\n</a:t>
            </a:r>
            <a:r>
              <a:rPr lang="es-ES" dirty="0" smtClean="0"/>
              <a:t>”;</a:t>
            </a:r>
            <a:endParaRPr lang="es-ES" dirty="0"/>
          </a:p>
          <a:p>
            <a:r>
              <a:rPr lang="es-ES" dirty="0"/>
              <a:t>}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S" dirty="0"/>
              <a:t>Imaginemos ahora que ya tenemos el texto anterior escrito en </a:t>
            </a:r>
            <a:r>
              <a:rPr lang="es-ES" dirty="0" smtClean="0"/>
              <a:t>un fichero </a:t>
            </a:r>
            <a:r>
              <a:rPr lang="es-ES" dirty="0"/>
              <a:t>de texto, que hemos llamado </a:t>
            </a:r>
            <a:r>
              <a:rPr lang="es-ES" i="1" dirty="0" smtClean="0"/>
              <a:t>Bienvenida.cpp. </a:t>
            </a:r>
            <a:r>
              <a:rPr lang="es-ES" i="1" dirty="0"/>
              <a:t>¿Cómo se </a:t>
            </a:r>
            <a:r>
              <a:rPr lang="es-ES" i="1" dirty="0" smtClean="0"/>
              <a:t>consigue </a:t>
            </a:r>
            <a:r>
              <a:rPr lang="es-ES" dirty="0" smtClean="0"/>
              <a:t>que </a:t>
            </a:r>
            <a:r>
              <a:rPr lang="es-ES" dirty="0"/>
              <a:t>ese texto se transforme en algo que el ordenador </a:t>
            </a:r>
            <a:r>
              <a:rPr lang="es-ES" dirty="0" smtClean="0"/>
              <a:t>pueda entender</a:t>
            </a:r>
            <a:r>
              <a:rPr lang="es-ES" dirty="0"/>
              <a:t>? Para ello hay que realizar dos operaciones: </a:t>
            </a:r>
            <a:r>
              <a:rPr lang="es-ES" b="1" dirty="0" smtClean="0"/>
              <a:t>compilarlo </a:t>
            </a:r>
            <a:r>
              <a:rPr lang="es-ES" dirty="0" smtClean="0"/>
              <a:t>y </a:t>
            </a:r>
            <a:r>
              <a:rPr lang="es-ES" b="1" dirty="0" err="1"/>
              <a:t>linkarlo</a:t>
            </a:r>
            <a:r>
              <a:rPr lang="es-ES" b="1" dirty="0"/>
              <a:t>.</a:t>
            </a:r>
          </a:p>
          <a:p>
            <a:r>
              <a:rPr lang="es-ES" b="1" dirty="0"/>
              <a:t>• Compilar un programa significa transformar el texto plano </a:t>
            </a:r>
            <a:r>
              <a:rPr lang="es-ES" b="1" dirty="0" smtClean="0"/>
              <a:t>en </a:t>
            </a:r>
            <a:r>
              <a:rPr lang="es-ES" dirty="0" smtClean="0"/>
              <a:t>un </a:t>
            </a:r>
            <a:r>
              <a:rPr lang="es-ES" dirty="0"/>
              <a:t>código que el procesador pueda entender. De esta tarea </a:t>
            </a:r>
            <a:r>
              <a:rPr lang="es-ES" dirty="0" smtClean="0"/>
              <a:t>se encarga </a:t>
            </a:r>
            <a:r>
              <a:rPr lang="es-ES" dirty="0"/>
              <a:t>un programa llamado compilador.</a:t>
            </a:r>
          </a:p>
          <a:p>
            <a:r>
              <a:rPr lang="es-ES" b="1" dirty="0"/>
              <a:t>• </a:t>
            </a:r>
            <a:r>
              <a:rPr lang="es-ES" b="1" dirty="0" err="1"/>
              <a:t>Linkar</a:t>
            </a:r>
            <a:r>
              <a:rPr lang="es-ES" b="1" dirty="0"/>
              <a:t> un programa significa juntarlo con otros trozos de programa.</a:t>
            </a:r>
          </a:p>
          <a:p>
            <a:r>
              <a:rPr lang="es-ES" dirty="0"/>
              <a:t>En nuestro ejemplo debemos juntar lo que </a:t>
            </a:r>
            <a:r>
              <a:rPr lang="es-ES" dirty="0" smtClean="0"/>
              <a:t>nosotros hemos </a:t>
            </a:r>
            <a:r>
              <a:rPr lang="es-ES" dirty="0"/>
              <a:t>hecho con todo lo que hay programado en la </a:t>
            </a:r>
            <a:r>
              <a:rPr lang="es-ES" dirty="0" smtClean="0"/>
              <a:t>librería </a:t>
            </a:r>
            <a:r>
              <a:rPr lang="es-ES" dirty="0" err="1" smtClean="0"/>
              <a:t>iostream</a:t>
            </a:r>
            <a:r>
              <a:rPr lang="es-ES" i="1" dirty="0" smtClean="0"/>
              <a:t>, </a:t>
            </a:r>
            <a:r>
              <a:rPr lang="es-ES" i="1" dirty="0"/>
              <a:t>concretamente con el código de la subrutina </a:t>
            </a:r>
            <a:r>
              <a:rPr lang="es-ES" i="1" dirty="0" err="1" smtClean="0"/>
              <a:t>cout</a:t>
            </a:r>
            <a:r>
              <a:rPr lang="es-ES" i="1" dirty="0" smtClean="0"/>
              <a:t>. Esta </a:t>
            </a:r>
            <a:r>
              <a:rPr lang="es-ES" dirty="0" smtClean="0"/>
              <a:t>tarea </a:t>
            </a:r>
            <a:r>
              <a:rPr lang="es-ES" dirty="0"/>
              <a:t>la realiza un programa denominado </a:t>
            </a:r>
            <a:r>
              <a:rPr lang="es-ES" dirty="0" err="1"/>
              <a:t>linkador</a:t>
            </a:r>
            <a:r>
              <a:rPr lang="es-ES" dirty="0"/>
              <a:t>.</a:t>
            </a:r>
          </a:p>
          <a:p>
            <a:r>
              <a:rPr lang="es-ES" dirty="0"/>
              <a:t>Actualmente, muchos compiladores de </a:t>
            </a:r>
            <a:r>
              <a:rPr lang="es-ES" dirty="0" smtClean="0"/>
              <a:t>C++ </a:t>
            </a:r>
            <a:r>
              <a:rPr lang="es-ES" dirty="0"/>
              <a:t>efectúan los dos pasos </a:t>
            </a:r>
            <a:r>
              <a:rPr lang="es-ES" dirty="0" smtClean="0"/>
              <a:t>a la </a:t>
            </a:r>
            <a:r>
              <a:rPr lang="es-ES" dirty="0"/>
              <a:t>vez y se dice, simplemente, que se compila el programa.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Así pues, para obtener un programa </a:t>
            </a:r>
            <a:r>
              <a:rPr lang="es-ES" dirty="0" smtClean="0"/>
              <a:t>ejecutable</a:t>
            </a:r>
            <a:r>
              <a:rPr lang="es-ES" dirty="0"/>
              <a:t>, en primer </a:t>
            </a:r>
            <a:r>
              <a:rPr lang="es-ES" dirty="0" smtClean="0"/>
              <a:t>lugar debe </a:t>
            </a:r>
            <a:r>
              <a:rPr lang="es-ES" dirty="0"/>
              <a:t>escribirse su código fuente en un fichero de texto. A </a:t>
            </a:r>
            <a:r>
              <a:rPr lang="es-ES" dirty="0" smtClean="0"/>
              <a:t>continuación, hay </a:t>
            </a:r>
            <a:r>
              <a:rPr lang="es-ES" dirty="0"/>
              <a:t>que compilar el programa, para obtener el fichero ejecutable.</a:t>
            </a:r>
          </a:p>
          <a:p>
            <a:r>
              <a:rPr lang="es-ES" dirty="0"/>
              <a:t>El proceso es básicamente el mismo en todos los </a:t>
            </a:r>
            <a:r>
              <a:rPr lang="es-ES" dirty="0" smtClean="0"/>
              <a:t>sistemas operativos</a:t>
            </a:r>
            <a:r>
              <a:rPr lang="es-ES" dirty="0"/>
              <a:t>, pero la forma de trabajar no es la misma en </a:t>
            </a:r>
            <a:r>
              <a:rPr lang="es-ES" dirty="0" smtClean="0"/>
              <a:t>Windows que </a:t>
            </a:r>
            <a:r>
              <a:rPr lang="es-ES" dirty="0"/>
              <a:t>en Linux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ES" b="1" dirty="0"/>
              <a:t>WINDOWS</a:t>
            </a:r>
          </a:p>
          <a:p>
            <a:r>
              <a:rPr lang="es-ES" dirty="0"/>
              <a:t>En Windows se suele trabajar directamente con un entorno de </a:t>
            </a:r>
            <a:r>
              <a:rPr lang="es-ES" dirty="0" smtClean="0"/>
              <a:t>programación que </a:t>
            </a:r>
            <a:r>
              <a:rPr lang="es-ES" dirty="0"/>
              <a:t>agrupa, entre otros elementos, el editor de </a:t>
            </a:r>
            <a:r>
              <a:rPr lang="es-ES" dirty="0" smtClean="0"/>
              <a:t>texto y </a:t>
            </a:r>
            <a:r>
              <a:rPr lang="es-ES" dirty="0"/>
              <a:t>el compilador. Algunos de los entornos de programación </a:t>
            </a:r>
            <a:r>
              <a:rPr lang="es-ES" dirty="0" smtClean="0"/>
              <a:t>más usuales </a:t>
            </a:r>
            <a:r>
              <a:rPr lang="es-ES" dirty="0"/>
              <a:t>en Windows son </a:t>
            </a:r>
            <a:r>
              <a:rPr lang="es-ES" dirty="0" err="1"/>
              <a:t>Dev</a:t>
            </a:r>
            <a:r>
              <a:rPr lang="es-ES" dirty="0"/>
              <a:t>-C</a:t>
            </a:r>
            <a:r>
              <a:rPr lang="es-ES" dirty="0" smtClean="0"/>
              <a:t>++ (descargable del aula virtual de la cátedra),  Visual Studio o </a:t>
            </a:r>
            <a:r>
              <a:rPr lang="es-ES" dirty="0"/>
              <a:t>Turbo </a:t>
            </a:r>
            <a:r>
              <a:rPr lang="es-ES" dirty="0" smtClean="0"/>
              <a:t>C.</a:t>
            </a:r>
          </a:p>
          <a:p>
            <a:r>
              <a:rPr lang="es-ES" dirty="0" smtClean="0"/>
              <a:t>Aunque </a:t>
            </a:r>
            <a:r>
              <a:rPr lang="es-ES" dirty="0"/>
              <a:t>los principios básicos para conseguir un programa </a:t>
            </a:r>
            <a:r>
              <a:rPr lang="es-ES" dirty="0" smtClean="0"/>
              <a:t>ejecutable son </a:t>
            </a:r>
            <a:r>
              <a:rPr lang="es-ES" dirty="0"/>
              <a:t>siempre los mismos, vamos a describir ahora las </a:t>
            </a:r>
            <a:r>
              <a:rPr lang="es-ES" dirty="0" smtClean="0"/>
              <a:t>particularidades del </a:t>
            </a:r>
            <a:r>
              <a:rPr lang="es-ES" dirty="0" err="1" smtClean="0"/>
              <a:t>DevC</a:t>
            </a:r>
            <a:r>
              <a:rPr lang="es-ES" dirty="0" smtClean="0"/>
              <a:t>++.</a:t>
            </a:r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 smtClean="0"/>
              <a:t>DevC</a:t>
            </a:r>
            <a:r>
              <a:rPr lang="es-ES" dirty="0" smtClean="0"/>
              <a:t>++</a:t>
            </a:r>
            <a:endParaRPr lang="es-E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b="9495"/>
          <a:stretch>
            <a:fillRect/>
          </a:stretch>
        </p:blipFill>
        <p:spPr bwMode="auto">
          <a:xfrm>
            <a:off x="428597" y="285728"/>
            <a:ext cx="4714908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620" y="3057548"/>
            <a:ext cx="48768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ES" b="1" dirty="0" err="1"/>
              <a:t>Dev</a:t>
            </a:r>
            <a:r>
              <a:rPr lang="es-ES" b="1" dirty="0"/>
              <a:t>-C++:</a:t>
            </a:r>
          </a:p>
          <a:p>
            <a:r>
              <a:rPr lang="es-ES" dirty="0" err="1"/>
              <a:t>Dev</a:t>
            </a:r>
            <a:r>
              <a:rPr lang="es-ES" dirty="0"/>
              <a:t>-C++ es un entorno de desarrollo de C con </a:t>
            </a:r>
            <a:r>
              <a:rPr lang="es-ES" dirty="0" smtClean="0"/>
              <a:t>licencia libre</a:t>
            </a:r>
            <a:r>
              <a:rPr lang="es-ES" dirty="0"/>
              <a:t>. Se puede conseguir la última versión </a:t>
            </a:r>
            <a:r>
              <a:rPr lang="es-ES" dirty="0" smtClean="0"/>
              <a:t>en http</a:t>
            </a:r>
            <a:r>
              <a:rPr lang="es-ES" dirty="0"/>
              <a:t>://</a:t>
            </a:r>
            <a:r>
              <a:rPr lang="es-ES" dirty="0" smtClean="0"/>
              <a:t>www.bloodshed.net. </a:t>
            </a:r>
            <a:r>
              <a:rPr lang="es-ES" dirty="0"/>
              <a:t>Una vez instalado el software, hay que ejecutar </a:t>
            </a:r>
            <a:r>
              <a:rPr lang="es-ES" dirty="0" smtClean="0"/>
              <a:t>el entorno </a:t>
            </a:r>
            <a:r>
              <a:rPr lang="es-ES" dirty="0" err="1"/>
              <a:t>Dev</a:t>
            </a:r>
            <a:r>
              <a:rPr lang="es-ES" dirty="0"/>
              <a:t>-C++ (</a:t>
            </a:r>
            <a:r>
              <a:rPr lang="es-ES" dirty="0" smtClean="0"/>
              <a:t>Figura). </a:t>
            </a:r>
            <a:r>
              <a:rPr lang="es-ES" dirty="0"/>
              <a:t>A continuación, </a:t>
            </a:r>
            <a:r>
              <a:rPr lang="es-ES" dirty="0" smtClean="0"/>
              <a:t>debemos escribir </a:t>
            </a:r>
            <a:r>
              <a:rPr lang="es-ES" dirty="0"/>
              <a:t>el programa. Para ello, creamos un </a:t>
            </a:r>
            <a:r>
              <a:rPr lang="es-ES" i="1" dirty="0"/>
              <a:t>Nuevo </a:t>
            </a:r>
            <a:r>
              <a:rPr lang="es-ES" i="1" dirty="0" smtClean="0"/>
              <a:t>Código Fuente</a:t>
            </a:r>
            <a:r>
              <a:rPr lang="es-ES" i="1" dirty="0"/>
              <a:t>. Esto abrirá una nueva ventana en blanco, </a:t>
            </a:r>
            <a:r>
              <a:rPr lang="es-ES" i="1" dirty="0" smtClean="0"/>
              <a:t>donde </a:t>
            </a:r>
            <a:r>
              <a:rPr lang="es-ES" dirty="0" smtClean="0"/>
              <a:t>hay </a:t>
            </a:r>
            <a:r>
              <a:rPr lang="es-ES" dirty="0"/>
              <a:t>que escribir el código del ejemplo anterior. A </a:t>
            </a:r>
            <a:r>
              <a:rPr lang="es-ES" dirty="0" smtClean="0"/>
              <a:t>continuación, lo </a:t>
            </a:r>
            <a:r>
              <a:rPr lang="es-ES" dirty="0"/>
              <a:t>guardamos con el nombre </a:t>
            </a:r>
            <a:r>
              <a:rPr lang="es-ES" i="1" dirty="0" smtClean="0"/>
              <a:t>Bienvenida.cpp y </a:t>
            </a:r>
            <a:r>
              <a:rPr lang="es-ES" dirty="0" smtClean="0"/>
              <a:t>como </a:t>
            </a:r>
            <a:r>
              <a:rPr lang="es-ES" dirty="0"/>
              <a:t>tipo </a:t>
            </a:r>
            <a:r>
              <a:rPr lang="es-ES" i="1" dirty="0"/>
              <a:t>Código Fuente de C (extensión .</a:t>
            </a:r>
            <a:r>
              <a:rPr lang="es-ES" i="1" dirty="0" err="1" smtClean="0"/>
              <a:t>cpp</a:t>
            </a:r>
            <a:r>
              <a:rPr lang="es-ES" i="1" dirty="0" smtClean="0"/>
              <a:t>).</a:t>
            </a:r>
            <a:endParaRPr lang="es-ES" i="1" dirty="0"/>
          </a:p>
          <a:p>
            <a:r>
              <a:rPr lang="es-ES" dirty="0"/>
              <a:t>Una vez tenemos el código escrito podemos </a:t>
            </a:r>
            <a:r>
              <a:rPr lang="es-ES" dirty="0" smtClean="0"/>
              <a:t>compilarlo dentro </a:t>
            </a:r>
            <a:r>
              <a:rPr lang="es-ES" dirty="0"/>
              <a:t>del mismo entorno. Para ello basta con pulsar </a:t>
            </a:r>
            <a:r>
              <a:rPr lang="es-ES" dirty="0" smtClean="0"/>
              <a:t>el botón </a:t>
            </a:r>
            <a:r>
              <a:rPr lang="es-ES" dirty="0"/>
              <a:t>adecuado (arriba a la izquierda), hacer clic con </a:t>
            </a:r>
            <a:r>
              <a:rPr lang="es-ES" dirty="0" smtClean="0"/>
              <a:t>el ratón </a:t>
            </a:r>
            <a:r>
              <a:rPr lang="es-ES" dirty="0"/>
              <a:t>en la primera opción del menú </a:t>
            </a:r>
            <a:r>
              <a:rPr lang="es-ES" i="1" dirty="0"/>
              <a:t>Ejecutar o </a:t>
            </a:r>
            <a:r>
              <a:rPr lang="es-ES" i="1" dirty="0" smtClean="0"/>
              <a:t>pulsar Ctrl+F9</a:t>
            </a:r>
            <a:r>
              <a:rPr lang="es-ES" i="1" dirty="0"/>
              <a:t>. Si la compilación no da ningún error, </a:t>
            </a:r>
            <a:r>
              <a:rPr lang="es-ES" i="1" dirty="0" smtClean="0"/>
              <a:t>podemos ejecutar </a:t>
            </a:r>
            <a:r>
              <a:rPr lang="es-ES" i="1" dirty="0"/>
              <a:t>ya el programa (Ctrl+F10).</a:t>
            </a:r>
          </a:p>
          <a:p>
            <a:r>
              <a:rPr lang="es-ES" dirty="0"/>
              <a:t>Lo más probable es que después de seguir los </a:t>
            </a:r>
            <a:r>
              <a:rPr lang="es-ES" dirty="0" smtClean="0"/>
              <a:t>pasos anteriores </a:t>
            </a:r>
            <a:r>
              <a:rPr lang="es-ES" dirty="0"/>
              <a:t>no veamos nada. Esto es debido a que </a:t>
            </a:r>
            <a:r>
              <a:rPr lang="es-ES" dirty="0" smtClean="0"/>
              <a:t>el programa </a:t>
            </a:r>
            <a:r>
              <a:rPr lang="es-ES" dirty="0"/>
              <a:t>abre una consola (una ventana de texto</a:t>
            </a:r>
            <a:r>
              <a:rPr lang="es-ES" dirty="0" smtClean="0"/>
              <a:t>), imprime </a:t>
            </a:r>
            <a:r>
              <a:rPr lang="es-ES" dirty="0"/>
              <a:t>en ella lo que le hemos dicho y a </a:t>
            </a:r>
            <a:r>
              <a:rPr lang="es-ES" dirty="0" smtClean="0"/>
              <a:t>continuación la </a:t>
            </a:r>
            <a:r>
              <a:rPr lang="es-ES" dirty="0"/>
              <a:t>ventana se cierra antes de que podamos ver nada. </a:t>
            </a:r>
            <a:r>
              <a:rPr lang="es-ES" dirty="0" smtClean="0"/>
              <a:t>Si queremos </a:t>
            </a:r>
            <a:r>
              <a:rPr lang="es-ES" dirty="0"/>
              <a:t>ver algo, debemos conseguir que el </a:t>
            </a:r>
            <a:r>
              <a:rPr lang="es-ES" dirty="0" smtClean="0"/>
              <a:t>programa se </a:t>
            </a:r>
            <a:r>
              <a:rPr lang="es-ES" dirty="0"/>
              <a:t>pare antes de acabar. Así pues, debemos utilizar </a:t>
            </a:r>
            <a:r>
              <a:rPr lang="es-ES" dirty="0" smtClean="0"/>
              <a:t>la subrutina </a:t>
            </a:r>
            <a:r>
              <a:rPr lang="es-ES" i="1" dirty="0" err="1"/>
              <a:t>system</a:t>
            </a:r>
            <a:r>
              <a:rPr lang="es-ES" i="1" dirty="0"/>
              <a:t>, que envía una orden al sistema </a:t>
            </a:r>
            <a:r>
              <a:rPr lang="es-ES" i="1" dirty="0" smtClean="0"/>
              <a:t>operativo: </a:t>
            </a:r>
            <a:r>
              <a:rPr lang="es-ES" dirty="0" smtClean="0"/>
              <a:t>detenerse</a:t>
            </a:r>
            <a:r>
              <a:rPr lang="es-ES" dirty="0"/>
              <a:t>. El programa, entonces, </a:t>
            </a:r>
            <a:r>
              <a:rPr lang="es-ES" dirty="0" smtClean="0"/>
              <a:t>queda así:</a:t>
            </a:r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dirty="0" smtClean="0"/>
              <a:t>// Programa: Bienvenida.cpp</a:t>
            </a:r>
          </a:p>
          <a:p>
            <a:r>
              <a:rPr lang="es-ES" dirty="0" smtClean="0"/>
              <a:t>// Utilidad: Imprime en pantalla un mensaje de bienvenida.</a:t>
            </a:r>
          </a:p>
          <a:p>
            <a:r>
              <a:rPr lang="es-ES" dirty="0" smtClean="0"/>
              <a:t>// Programador: Mismamente yo.</a:t>
            </a:r>
          </a:p>
          <a:p>
            <a:r>
              <a:rPr lang="es-ES" dirty="0" smtClean="0"/>
              <a:t>// Fecha: La de hoy.</a:t>
            </a:r>
          </a:p>
          <a:p>
            <a:r>
              <a:rPr lang="es-ES" dirty="0" smtClean="0"/>
              <a:t>// Versión: 1.0</a:t>
            </a:r>
          </a:p>
          <a:p>
            <a:r>
              <a:rPr lang="es-ES" dirty="0" smtClean="0"/>
              <a:t>#</a:t>
            </a:r>
            <a:r>
              <a:rPr lang="es-ES" dirty="0" err="1" smtClean="0"/>
              <a:t>include</a:t>
            </a:r>
            <a:r>
              <a:rPr lang="es-ES" dirty="0" smtClean="0"/>
              <a:t> &lt;</a:t>
            </a:r>
            <a:r>
              <a:rPr lang="es-ES" dirty="0" err="1" smtClean="0"/>
              <a:t>iostream</a:t>
            </a:r>
            <a:r>
              <a:rPr lang="es-ES" dirty="0" smtClean="0"/>
              <a:t>&gt;</a:t>
            </a:r>
          </a:p>
          <a:p>
            <a:r>
              <a:rPr lang="es-ES" dirty="0" err="1" smtClean="0"/>
              <a:t>main</a:t>
            </a:r>
            <a:r>
              <a:rPr lang="es-ES" dirty="0" smtClean="0"/>
              <a:t>()</a:t>
            </a:r>
          </a:p>
          <a:p>
            <a:r>
              <a:rPr lang="es-ES" dirty="0" smtClean="0"/>
              <a:t>{</a:t>
            </a:r>
          </a:p>
          <a:p>
            <a:r>
              <a:rPr lang="es-ES" dirty="0" err="1" smtClean="0"/>
              <a:t>cout</a:t>
            </a:r>
            <a:r>
              <a:rPr lang="es-ES" dirty="0" smtClean="0"/>
              <a:t>&lt;&lt;“Hola, soy un programa muy educado.\n”;</a:t>
            </a:r>
          </a:p>
          <a:p>
            <a:r>
              <a:rPr lang="es-ES" dirty="0" err="1" smtClean="0"/>
              <a:t>system</a:t>
            </a:r>
            <a:r>
              <a:rPr lang="es-ES" dirty="0" smtClean="0"/>
              <a:t>(“pause”);</a:t>
            </a:r>
            <a:r>
              <a:rPr lang="es-ES" b="1" dirty="0"/>
              <a:t> /*Esta orden sólo hace que el</a:t>
            </a:r>
          </a:p>
          <a:p>
            <a:r>
              <a:rPr lang="es-ES" b="1" dirty="0"/>
              <a:t>programa se detenga y podamos ver lo que escribe.*/</a:t>
            </a:r>
            <a:endParaRPr lang="es-ES" dirty="0" smtClean="0"/>
          </a:p>
          <a:p>
            <a:r>
              <a:rPr lang="es-ES" dirty="0" smtClean="0"/>
              <a:t>}</a:t>
            </a:r>
          </a:p>
          <a:p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Una vez modificado el código del programa, deberemos </a:t>
            </a:r>
            <a:r>
              <a:rPr lang="es-ES" dirty="0" smtClean="0"/>
              <a:t>compilarlo y </a:t>
            </a:r>
            <a:r>
              <a:rPr lang="es-ES" dirty="0"/>
              <a:t>ejecutarlo de nuevo. Podemos hacerlo en un solo paso </a:t>
            </a:r>
            <a:r>
              <a:rPr lang="es-ES" dirty="0" smtClean="0"/>
              <a:t>pulsando directamente </a:t>
            </a:r>
            <a:r>
              <a:rPr lang="es-ES" i="1" dirty="0"/>
              <a:t>F9.</a:t>
            </a:r>
          </a:p>
          <a:p>
            <a:r>
              <a:rPr lang="es-ES" dirty="0"/>
              <a:t>Para verificar que realmente hemos creado un programa, basta </a:t>
            </a:r>
            <a:r>
              <a:rPr lang="es-ES" dirty="0" smtClean="0"/>
              <a:t>con cerrar </a:t>
            </a:r>
            <a:r>
              <a:rPr lang="es-ES" dirty="0"/>
              <a:t>el entorno e ir a la carpeta donde guardamos el fichero </a:t>
            </a:r>
            <a:r>
              <a:rPr lang="es-ES" i="1" dirty="0" smtClean="0"/>
              <a:t>Bienvenida.cpp. </a:t>
            </a:r>
            <a:r>
              <a:rPr lang="es-ES" i="1" dirty="0"/>
              <a:t>Veremos que ha aparecido un nuevo fichero </a:t>
            </a:r>
            <a:r>
              <a:rPr lang="es-ES" i="1" dirty="0" smtClean="0"/>
              <a:t>llamado Bienvenida.exe</a:t>
            </a:r>
            <a:r>
              <a:rPr lang="es-ES" i="1" dirty="0"/>
              <a:t>. Si hacemos doble clic sobre este </a:t>
            </a:r>
            <a:r>
              <a:rPr lang="es-ES" i="1" dirty="0" smtClean="0"/>
              <a:t>fichero</a:t>
            </a:r>
            <a:r>
              <a:rPr lang="es-ES" i="1" dirty="0"/>
              <a:t>, se </a:t>
            </a:r>
            <a:r>
              <a:rPr lang="es-ES" i="1" dirty="0" smtClean="0"/>
              <a:t>ejecutará </a:t>
            </a:r>
            <a:r>
              <a:rPr lang="es-ES" dirty="0" smtClean="0"/>
              <a:t>el </a:t>
            </a:r>
            <a:r>
              <a:rPr lang="es-ES" dirty="0"/>
              <a:t>programa.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smtClean="0"/>
              <a:t>Computación Sección G Auxiliar David Fretes Esquivel</a:t>
            </a:r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2173</Words>
  <Application>Microsoft Office PowerPoint</Application>
  <PresentationFormat>Presentación en pantalla (4:3)</PresentationFormat>
  <Paragraphs>93</Paragraphs>
  <Slides>17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Tema de Office</vt:lpstr>
      <vt:lpstr>Introducción a la programación en C++</vt:lpstr>
      <vt:lpstr>Diapositiva 2</vt:lpstr>
      <vt:lpstr>Diapositiva 3</vt:lpstr>
      <vt:lpstr>Diapositiva 4</vt:lpstr>
      <vt:lpstr>Diapositiva 5</vt:lpstr>
      <vt:lpstr>Diapositiva 6</vt:lpstr>
      <vt:lpstr>Un primer programa en C++</vt:lpstr>
      <vt:lpstr>Diapositiva 8</vt:lpstr>
      <vt:lpstr>Diapositiva 9</vt:lpstr>
      <vt:lpstr>Diapositiva 10</vt:lpstr>
      <vt:lpstr>Diapositiva 11</vt:lpstr>
      <vt:lpstr>Diapositiva 12</vt:lpstr>
      <vt:lpstr>Diapositiva 13</vt:lpstr>
      <vt:lpstr>DevC++</vt:lpstr>
      <vt:lpstr>Diapositiva 15</vt:lpstr>
      <vt:lpstr>Diapositiva 16</vt:lpstr>
      <vt:lpstr>Diapositiva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programación en C++</dc:title>
  <dc:creator>droadmin</dc:creator>
  <cp:lastModifiedBy>dtiadmin</cp:lastModifiedBy>
  <cp:revision>25</cp:revision>
  <dcterms:created xsi:type="dcterms:W3CDTF">2015-02-03T06:33:12Z</dcterms:created>
  <dcterms:modified xsi:type="dcterms:W3CDTF">2015-02-19T02:22:18Z</dcterms:modified>
</cp:coreProperties>
</file>